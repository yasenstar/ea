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1"/>
  </p:notesMasterIdLst>
  <p:sldIdLst>
    <p:sldId id="304" r:id="rId5"/>
    <p:sldId id="305" r:id="rId6"/>
    <p:sldId id="311" r:id="rId7"/>
    <p:sldId id="306" r:id="rId8"/>
    <p:sldId id="307" r:id="rId9"/>
    <p:sldId id="310" r:id="rId1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2F2"/>
    <a:srgbClr val="66B2B0"/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118" d="100"/>
          <a:sy n="118" d="100"/>
        </p:scale>
        <p:origin x="255" y="282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commentAuthors" Target="commentAuthors.xml"/><Relationship Id="rId17" Type="http://schemas.microsoft.com/office/2018/10/relationships/authors" Target="authors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4/14/2026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hyperlink" Target="https://www.google.com/search?q=https://www.youtube.com/playlist%3Flist%3DPL6DEHvciXKeXrv1A4AV2wy1RDv-Y5MRip" TargetMode="External"/><Relationship Id="rId7" Type="http://schemas.openxmlformats.org/officeDocument/2006/relationships/image" Target="../media/image8.png"/><Relationship Id="rId2" Type="http://schemas.openxmlformats.org/officeDocument/2006/relationships/hyperlink" Target="https://www.archimatetool.com/download/" TargetMode="Externa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2.png"/><Relationship Id="rId5" Type="http://schemas.openxmlformats.org/officeDocument/2006/relationships/hyperlink" Target="https://www.udemy.com/course/archi-tool-user-guide-tutorial/?referralCode=B7FD975B5B8F58109B76" TargetMode="External"/><Relationship Id="rId4" Type="http://schemas.openxmlformats.org/officeDocument/2006/relationships/hyperlink" Target="https://www.youtube.com/playlist?list=PL6DEHvciXKeXrv1A4AV2wy1RDv-Y5MRip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99351" y="6042418"/>
            <a:ext cx="4868512" cy="452868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r>
              <a:rPr lang="en-US" altLang="zh-CN" dirty="0"/>
              <a:t>April 2026, </a:t>
            </a:r>
            <a:r>
              <a:rPr lang="en-US" dirty="0"/>
              <a:t>Xiaoqi Zhao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5ACEA4E-49D1-F4F3-AB8B-CB8B785155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351" y="66389"/>
            <a:ext cx="6280581" cy="241838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99351" y="2853220"/>
            <a:ext cx="9667438" cy="2027555"/>
          </a:xfrm>
          <a:solidFill>
            <a:srgbClr val="F2F2F2"/>
          </a:solidFill>
        </p:spPr>
        <p:txBody>
          <a:bodyPr anchor="ctr">
            <a:normAutofit fontScale="90000"/>
          </a:bodyPr>
          <a:lstStyle/>
          <a:p>
            <a:r>
              <a:rPr lang="en-US" sz="8000" dirty="0"/>
              <a:t>Archi 5.9.0 </a:t>
            </a:r>
            <a:br>
              <a:rPr lang="en-US" sz="8000" dirty="0"/>
            </a:br>
            <a:r>
              <a:rPr lang="en-US" sz="4400" dirty="0"/>
              <a:t>(</a:t>
            </a:r>
            <a:r>
              <a:rPr lang="en-US" altLang="zh-CN" sz="4400" dirty="0"/>
              <a:t>Apr 14</a:t>
            </a:r>
            <a:r>
              <a:rPr lang="en-US" sz="4400" dirty="0"/>
              <a:t>, 2026) Features Deep Dive</a:t>
            </a:r>
            <a:endParaRPr lang="en-US" sz="4800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2978D64-F2EA-18CC-E0C5-CD1DC3FBD686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631438" y="0"/>
            <a:ext cx="1501073" cy="153989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A42245B-BFB2-0BD5-1DF4-824E10A244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24122" y="5050171"/>
            <a:ext cx="2108245" cy="17414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New Features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690688"/>
            <a:ext cx="10515600" cy="4486275"/>
          </a:xfrm>
        </p:spPr>
        <p:txBody>
          <a:bodyPr>
            <a:normAutofit/>
          </a:bodyPr>
          <a:lstStyle/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/>
              <a:t>Add </a:t>
            </a:r>
            <a:r>
              <a:rPr lang="en-US" dirty="0">
                <a:highlight>
                  <a:srgbClr val="00FF00"/>
                </a:highlight>
              </a:rPr>
              <a:t>“Invert Connection Direction” </a:t>
            </a:r>
            <a:r>
              <a:rPr lang="en-US" dirty="0"/>
              <a:t>feature to reverse source and target ends of a connection</a:t>
            </a:r>
          </a:p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>
                <a:highlight>
                  <a:srgbClr val="00FF00"/>
                </a:highlight>
              </a:rPr>
              <a:t>New Model Tree alphanumeric sort </a:t>
            </a:r>
            <a:r>
              <a:rPr lang="en-US" dirty="0"/>
              <a:t>algorithm</a:t>
            </a:r>
          </a:p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>
                <a:highlight>
                  <a:srgbClr val="00FF00"/>
                </a:highlight>
              </a:rPr>
              <a:t>Show parent folder paths </a:t>
            </a:r>
            <a:r>
              <a:rPr lang="en-US" dirty="0"/>
              <a:t>in “Used in Views” and “Model Relations” analysis tables</a:t>
            </a:r>
          </a:p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>
                <a:highlight>
                  <a:srgbClr val="00FF00"/>
                </a:highlight>
              </a:rPr>
              <a:t>Open Exchange </a:t>
            </a:r>
            <a:r>
              <a:rPr lang="en-US" dirty="0"/>
              <a:t>Format now imports and exports </a:t>
            </a:r>
            <a:r>
              <a:rPr lang="en-US" dirty="0">
                <a:highlight>
                  <a:srgbClr val="00FF00"/>
                </a:highlight>
              </a:rPr>
              <a:t>Specialization names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2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DE65AE5-769C-2257-F6FF-7C06F513E3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59913" y="136525"/>
            <a:ext cx="1733484" cy="173348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048F229-805E-7425-D9A2-E6D96EB230AC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30460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F4F287-2E74-2A2F-6D68-868562A25A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09560"/>
            <a:ext cx="10515600" cy="1325563"/>
          </a:xfrm>
        </p:spPr>
        <p:txBody>
          <a:bodyPr/>
          <a:lstStyle/>
          <a:p>
            <a:r>
              <a:rPr lang="en-US" dirty="0"/>
              <a:t>Invert Connection Direction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EA28FD1-B437-46E7-AC60-661B8F8EFF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AC46FDB-59A6-06F7-9B95-90D98297E0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853FECC-BFC1-8BBB-8A5B-12A685F715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3</a:t>
            </a:fld>
            <a:endParaRPr lang="en-US" dirty="0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CF5F6497-5CC7-40CB-F396-3F2C785EDB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8200" y="2074580"/>
            <a:ext cx="5010849" cy="2381582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A23E4F1-D059-46E9-D3A7-8E9AE966BD56}"/>
              </a:ext>
            </a:extLst>
          </p:cNvPr>
          <p:cNvSpPr txBox="1"/>
          <p:nvPr/>
        </p:nvSpPr>
        <p:spPr>
          <a:xfrm>
            <a:off x="2387065" y="2300496"/>
            <a:ext cx="68800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sym typeface="Wingdings" panose="05000000000000000000" pitchFamily="2" charset="2"/>
              </a:rPr>
              <a:t></a:t>
            </a:r>
            <a:endParaRPr lang="en-US" sz="4400" b="1" dirty="0">
              <a:ln w="6600">
                <a:solidFill>
                  <a:schemeClr val="accent2"/>
                </a:solidFill>
                <a:prstDash val="solid"/>
              </a:ln>
              <a:solidFill>
                <a:srgbClr val="FFFFFF"/>
              </a:solidFill>
              <a:effectLst>
                <a:outerShdw dist="38100" dir="2700000" algn="tl" rotWithShape="0">
                  <a:schemeClr val="accent2"/>
                </a:outerShdw>
              </a:effectLst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1BBEFF1-9196-DD68-9EA5-C61E721B0DE6}"/>
              </a:ext>
            </a:extLst>
          </p:cNvPr>
          <p:cNvSpPr txBox="1"/>
          <p:nvPr/>
        </p:nvSpPr>
        <p:spPr>
          <a:xfrm>
            <a:off x="3430048" y="2969726"/>
            <a:ext cx="68800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sym typeface="Wingdings" panose="05000000000000000000" pitchFamily="2" charset="2"/>
              </a:rPr>
              <a:t></a:t>
            </a:r>
            <a:endParaRPr lang="en-US" sz="4400" b="1" dirty="0">
              <a:ln w="6600">
                <a:solidFill>
                  <a:schemeClr val="accent2"/>
                </a:solidFill>
                <a:prstDash val="solid"/>
              </a:ln>
              <a:solidFill>
                <a:srgbClr val="FFFFFF"/>
              </a:solidFill>
              <a:effectLst>
                <a:outerShdw dist="38100" dir="2700000" algn="tl" rotWithShape="0">
                  <a:schemeClr val="accent2"/>
                </a:outerShdw>
              </a:effectLst>
            </a:endParaRP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C57FA15B-4476-254C-449C-3FC222049FD8}"/>
              </a:ext>
            </a:extLst>
          </p:cNvPr>
          <p:cNvSpPr txBox="1">
            <a:spLocks/>
          </p:cNvSpPr>
          <p:nvPr/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The original relationship should have valid inverse relationship per ArchiMate specification</a:t>
            </a:r>
          </a:p>
          <a:p>
            <a:r>
              <a:rPr lang="en-US"/>
              <a:t>The Name is required manually adjustment</a:t>
            </a:r>
          </a:p>
          <a:p>
            <a:r>
              <a:rPr lang="en-US"/>
              <a:t>The relationship codes are always inside the Source view element block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89135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Improvements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fontScale="77500" lnSpcReduction="20000"/>
          </a:bodyPr>
          <a:lstStyle/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Model Tree alphanumeric sort preference is </a:t>
            </a:r>
            <a:r>
              <a:rPr lang="en-US" dirty="0">
                <a:highlight>
                  <a:srgbClr val="00FF00"/>
                </a:highlight>
              </a:rPr>
              <a:t>off by default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Model Tree search – </a:t>
            </a:r>
            <a:r>
              <a:rPr lang="en-US" dirty="0">
                <a:highlight>
                  <a:srgbClr val="00FF00"/>
                </a:highlight>
              </a:rPr>
              <a:t>restore tree selection </a:t>
            </a:r>
            <a:r>
              <a:rPr lang="en-US" dirty="0"/>
              <a:t>when clearing search filter and text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[</a:t>
            </a:r>
            <a:r>
              <a:rPr lang="en-US" dirty="0">
                <a:highlight>
                  <a:srgbClr val="00FF00"/>
                </a:highlight>
              </a:rPr>
              <a:t>CSV Import</a:t>
            </a:r>
            <a:r>
              <a:rPr lang="en-US" dirty="0"/>
              <a:t>] Throw an exception if there are duplicate relations declared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Aggregation and Composition connection ends are drawn </a:t>
            </a:r>
            <a:r>
              <a:rPr lang="en-US" dirty="0">
                <a:highlight>
                  <a:srgbClr val="00FF00"/>
                </a:highlight>
              </a:rPr>
              <a:t>more accurately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Ensure icon images are not drawn slightly outside of a figure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Add an internal check on startup to ensure workbench part icons are correct when using different versions of Eclipse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Remove link in help contents to online ArchiMate 3.2 specification as it’s no longer “open”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4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987F71AF-2405-D8A4-3C38-004935AD2685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273214" y="0"/>
            <a:ext cx="1918786" cy="191878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BBB188C0-78D9-5A3F-E7AA-92EC1D439D88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224037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Fixes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/>
          </a:bodyPr>
          <a:lstStyle/>
          <a:p>
            <a:pPr marL="514350" indent="-514350">
              <a:buFont typeface="+mj-lt"/>
              <a:buAutoNum type="arabicPeriod"/>
            </a:pPr>
            <a:r>
              <a:rPr lang="en-US" dirty="0"/>
              <a:t>Fix disabling themes in preferences setting not working</a:t>
            </a:r>
            <a:endParaRPr lang="en-US" dirty="0">
              <a:highlight>
                <a:srgbClr val="00FF00"/>
              </a:highlight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5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3631E1E-6D28-6108-6281-3A8B955FB1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88930" y="2477294"/>
            <a:ext cx="2028825" cy="15240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770B7D78-22E4-5C09-F6D5-2355785E31C5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302919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5F374B-0118-DB5C-B760-6C7DF9CD0E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Want more Information?</a:t>
            </a:r>
            <a:br>
              <a:rPr lang="en-US" dirty="0"/>
            </a:br>
            <a:r>
              <a:rPr lang="en-US" sz="2200" b="0" cap="none" dirty="0"/>
              <a:t>Accelerate your Enterprise Architecture journey with these essential links.</a:t>
            </a:r>
            <a:endParaRPr lang="en-US" b="0" cap="none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E0A0FE0B-ECCF-0217-986E-9F2A996F2E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4"/>
            <a:ext cx="8083697" cy="4530725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10000"/>
              </a:lnSpc>
            </a:pPr>
            <a:r>
              <a:rPr lang="en-US" sz="2400" b="1" dirty="0"/>
              <a:t>Software Download:</a:t>
            </a:r>
          </a:p>
          <a:p>
            <a:pPr lvl="1">
              <a:lnSpc>
                <a:spcPct val="110000"/>
              </a:lnSpc>
            </a:pPr>
            <a:r>
              <a:rPr lang="en-US" sz="2000" dirty="0"/>
              <a:t>Get </a:t>
            </a:r>
            <a:r>
              <a:rPr lang="en-US" sz="2000" b="1" dirty="0"/>
              <a:t>Archi 5.9</a:t>
            </a:r>
            <a:r>
              <a:rPr lang="en-US" sz="2000" dirty="0"/>
              <a:t> (upon release) at </a:t>
            </a:r>
            <a:r>
              <a:rPr lang="en-US" sz="2000" dirty="0">
                <a:hlinkClick r:id="rId2"/>
              </a:rPr>
              <a:t>archimatetool.com/download</a:t>
            </a:r>
            <a:endParaRPr lang="en-US" sz="2000" dirty="0"/>
          </a:p>
          <a:p>
            <a:pPr>
              <a:lnSpc>
                <a:spcPct val="110000"/>
              </a:lnSpc>
            </a:pPr>
            <a:r>
              <a:rPr lang="en-US" sz="2400" b="1" dirty="0"/>
              <a:t>Documentation:</a:t>
            </a:r>
          </a:p>
          <a:p>
            <a:pPr lvl="1">
              <a:lnSpc>
                <a:spcPct val="110000"/>
              </a:lnSpc>
            </a:pPr>
            <a:r>
              <a:rPr lang="en-US" sz="2000" dirty="0"/>
              <a:t>Comprehensive </a:t>
            </a:r>
            <a:r>
              <a:rPr lang="en-US" sz="2000" b="1" dirty="0"/>
              <a:t>User Guide</a:t>
            </a:r>
            <a:r>
              <a:rPr lang="en-US" sz="2000" dirty="0"/>
              <a:t> included with your installation.</a:t>
            </a:r>
          </a:p>
          <a:p>
            <a:pPr>
              <a:lnSpc>
                <a:spcPct val="110000"/>
              </a:lnSpc>
            </a:pPr>
            <a:r>
              <a:rPr lang="en-US" sz="2400" b="1" dirty="0"/>
              <a:t>Video Training:</a:t>
            </a:r>
            <a:endParaRPr lang="en-US" sz="2400" dirty="0"/>
          </a:p>
          <a:p>
            <a:pPr lvl="1">
              <a:lnSpc>
                <a:spcPct val="110000"/>
              </a:lnSpc>
            </a:pPr>
            <a:r>
              <a:rPr lang="en-US" sz="2000" dirty="0"/>
              <a:t>Watch the curated </a:t>
            </a:r>
            <a:r>
              <a:rPr lang="en-US" sz="2000" dirty="0">
                <a:hlinkClick r:id="rId3"/>
              </a:rPr>
              <a:t>YouTube Playlist</a:t>
            </a:r>
            <a:r>
              <a:rPr lang="en-US" sz="2000" dirty="0"/>
              <a:t> </a:t>
            </a:r>
            <a:r>
              <a:rPr lang="en-US" sz="1400" dirty="0"/>
              <a:t>(</a:t>
            </a:r>
            <a:r>
              <a:rPr lang="en-US" sz="1400" dirty="0">
                <a:hlinkClick r:id="rId4"/>
              </a:rPr>
              <a:t>https://www.youtube.com/playlist?list=PL6DEHvciXKeXrv1A4AV2wy1RDv-Y5MRip</a:t>
            </a:r>
            <a:r>
              <a:rPr lang="en-US" sz="1400" dirty="0"/>
              <a:t>) </a:t>
            </a:r>
            <a:r>
              <a:rPr lang="en-US" sz="2000" dirty="0"/>
              <a:t>for visual walkthroughs.</a:t>
            </a:r>
          </a:p>
          <a:p>
            <a:pPr>
              <a:lnSpc>
                <a:spcPct val="110000"/>
              </a:lnSpc>
            </a:pPr>
            <a:r>
              <a:rPr lang="en-US" sz="2400" b="1" dirty="0"/>
              <a:t>Certified Learning:</a:t>
            </a:r>
          </a:p>
          <a:p>
            <a:pPr lvl="1">
              <a:lnSpc>
                <a:spcPct val="110000"/>
              </a:lnSpc>
            </a:pPr>
            <a:r>
              <a:rPr lang="en-US" sz="2000" dirty="0"/>
              <a:t>Enroll in the premium </a:t>
            </a:r>
            <a:r>
              <a:rPr lang="en-US" sz="2000" dirty="0">
                <a:hlinkClick r:id="rId5"/>
              </a:rPr>
              <a:t>Udemy Course</a:t>
            </a:r>
            <a:r>
              <a:rPr lang="en-US" sz="2000" dirty="0"/>
              <a:t> </a:t>
            </a:r>
            <a:r>
              <a:rPr lang="en-US" sz="1400" dirty="0"/>
              <a:t>(</a:t>
            </a:r>
            <a:r>
              <a:rPr lang="en-US" sz="1400" dirty="0">
                <a:hlinkClick r:id="rId5"/>
              </a:rPr>
              <a:t>https://www.udemy.com/course/archi-tool-user-guide-tutorial/?referralCode=</a:t>
            </a:r>
            <a:r>
              <a:rPr lang="en-US" sz="1400" b="1" dirty="0">
                <a:hlinkClick r:id="rId5"/>
              </a:rPr>
              <a:t>B7FD975B5B8F58109B76</a:t>
            </a:r>
            <a:r>
              <a:rPr lang="en-US" sz="1400" dirty="0"/>
              <a:t>) </a:t>
            </a:r>
            <a:r>
              <a:rPr lang="en-US" sz="2000" dirty="0"/>
              <a:t>for a structured masterclass.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F620079-0270-9B44-7B76-C1A1EDD87E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6</a:t>
            </a:fld>
            <a:endParaRPr lang="en-US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CBE88F2C-5B9B-A492-4347-EB37F75CF71E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251D88A3-3FB7-23C7-325D-12275128325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4216" y="1825624"/>
            <a:ext cx="2019584" cy="173379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BDCCE7F3-DB18-6AD3-179D-15ED4EF7FD5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328046" y="3726151"/>
            <a:ext cx="2025754" cy="252064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78097402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" id="{91065DBE-5BFE-48A8-88E3-00BE4E05E4F1}" vid="{764D0EE5-1C2F-4307-AB39-AA19F2A69737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 xsi:nil="true"/>
    <MediaServiceKeyPoints xmlns="71af3243-3dd4-4a8d-8c0d-dd76da1f02a5" xsi:nil="true"/>
    <Background xmlns="71af3243-3dd4-4a8d-8c0d-dd76da1f02a5">false</Background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8" ma:contentTypeDescription="Create a new document." ma:contentTypeScope="" ma:versionID="60f5a4f2d2b0abadcf532d48ebf9cb71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7dd78129e6a1811f84807ad11c651531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Status" minOccurs="0"/>
                <xsd:element ref="ns2:Image" minOccurs="0"/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1:_ip_UnifiedCompliancePolicyProperties" minOccurs="0"/>
                <xsd:element ref="ns1:_ip_UnifiedCompliancePolicyUIAction" minOccurs="0"/>
                <xsd:element ref="ns4:TaxCatchAll" minOccurs="0"/>
                <xsd:element ref="ns2:ImageTagsTaxHTField" minOccurs="0"/>
                <xsd:element ref="ns2:MediaServiceLocation" minOccurs="0"/>
                <xsd:element ref="ns2:MediaLengthInSeconds" minOccurs="0"/>
                <xsd:element ref="ns2:Background" minOccurs="0"/>
                <xsd:element ref="ns2:MediaServiceSearchProperties" minOccurs="0"/>
                <xsd:element ref="ns2:MediaServiceDocTags" minOccurs="0"/>
                <xsd:element ref="ns2:MediaServiceObjectDetectorVersions" minOccurs="0"/>
                <xsd:element ref="ns2:MediaServiceSystem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 ma:readOnly="false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 ma:readOnly="fals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Status" ma:index="2" nillable="true" ma:displayName="Status" ma:default="Not started" ma:format="Dropdown" ma:internalName="Status" ma:readOnly="false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3" nillable="true" ma:displayName="Image" ma:format="Image" ma:internalName="Image" ma:readOnly="fals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hidden="true" ma:internalName="MediaServiceOCR" ma:readOnly="true">
      <xsd:simpleType>
        <xsd:restriction base="dms:Note"/>
      </xsd:simpleType>
    </xsd:element>
    <xsd:element name="MediaServiceAutoTags" ma:index="11" nillable="true" ma:displayName="MediaServiceAutoTags" ma:hidden="true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hidden="true" ma:internalName="MediaServiceKeyPoints" ma:readOnly="fals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hidden="true" ma:internalName="MediaServiceLocation" ma:readOnly="true">
      <xsd:simpleType>
        <xsd:restriction base="dms:Text"/>
      </xsd:simpleType>
    </xsd:element>
    <xsd:element name="MediaLengthInSeconds" ma:index="27" nillable="true" ma:displayName="MediaLengthInSeconds" ma:hidden="true" ma:internalName="MediaLengthInSeconds" ma:readOnly="true">
      <xsd:simpleType>
        <xsd:restriction base="dms:Unknown"/>
      </xsd:simpleType>
    </xsd:element>
    <xsd:element name="Background" ma:index="28" nillable="true" ma:displayName="Background" ma:default="0" ma:format="Dropdown" ma:internalName="Background">
      <xsd:simpleType>
        <xsd:restriction base="dms:Boolean"/>
      </xsd:simpleType>
    </xsd:element>
    <xsd:element name="MediaServiceSearchProperties" ma:index="29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ocTags" ma:index="30" nillable="true" ma:displayName="MediaServiceDocTags" ma:hidden="true" ma:internalName="MediaServiceDocTags" ma:readOnly="true">
      <xsd:simpleType>
        <xsd:restriction base="dms:Note"/>
      </xsd:simpleType>
    </xsd:element>
    <xsd:element name="MediaServiceObjectDetectorVersions" ma:index="3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ystemTags" ma:index="32" nillable="true" ma:displayName="MediaServiceSystemTags" ma:hidden="true" ma:internalName="MediaServiceSystemTag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hidden="true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hidden="true" ma:internalName="SharedWithDetail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readOnly="false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799972D5-0616-492C-93CD-BB1ADFB6778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F64B861-6024-48D7-A751-9C7ADB614CF2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01299F1D-9457-4AA5-87D1-B9A9C19F301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19540963-e559-4020-8a90-fe8a502c2801}" enabled="1" method="Standard" siteId="{f25493ae-1c98-41d7-8a33-0be75f5fe603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{EE42B0DC-4D6C-44D5-B189-51D2E3E7067D}tf16411248_win32</Template>
  <TotalTime>988</TotalTime>
  <Words>309</Words>
  <Application>Microsoft Office PowerPoint</Application>
  <PresentationFormat>Widescreen</PresentationFormat>
  <Paragraphs>39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2" baseType="lpstr">
      <vt:lpstr>Arial</vt:lpstr>
      <vt:lpstr>Avenir Next LT Pro Light</vt:lpstr>
      <vt:lpstr>Calibri</vt:lpstr>
      <vt:lpstr>Posterama</vt:lpstr>
      <vt:lpstr>Wingdings</vt:lpstr>
      <vt:lpstr>Office Theme</vt:lpstr>
      <vt:lpstr>Archi 5.9.0  (Apr 14, 2026) Features Deep Dive</vt:lpstr>
      <vt:lpstr>New Features</vt:lpstr>
      <vt:lpstr>Invert Connection Direction</vt:lpstr>
      <vt:lpstr>Improvements</vt:lpstr>
      <vt:lpstr>Fixes</vt:lpstr>
      <vt:lpstr>Want more Information? Accelerate your Enterprise Architecture journey with these essential links.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Archi 5.2</dc:title>
  <dc:creator>Zhao Xiaoqi</dc:creator>
  <cp:lastModifiedBy>Xiaoqi Zhao</cp:lastModifiedBy>
  <cp:revision>16</cp:revision>
  <dcterms:created xsi:type="dcterms:W3CDTF">2023-11-01T19:09:20Z</dcterms:created>
  <dcterms:modified xsi:type="dcterms:W3CDTF">2026-04-14T16:26:40Z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  <property fmtid="{D5CDD505-2E9C-101B-9397-08002B2CF9AE}" pid="3" name="MediaServiceImageTags">
    <vt:lpwstr/>
  </property>
  <property fmtid="{D5CDD505-2E9C-101B-9397-08002B2CF9AE}" pid="4" name="MSIP_Label_19540963-e559-4020-8a90-fe8a502c2801_Enabled">
    <vt:lpwstr>true</vt:lpwstr>
  </property>
  <property fmtid="{D5CDD505-2E9C-101B-9397-08002B2CF9AE}" pid="5" name="MSIP_Label_19540963-e559-4020-8a90-fe8a502c2801_SetDate">
    <vt:lpwstr>2023-11-01T19:12:26Z</vt:lpwstr>
  </property>
  <property fmtid="{D5CDD505-2E9C-101B-9397-08002B2CF9AE}" pid="6" name="MSIP_Label_19540963-e559-4020-8a90-fe8a502c2801_Method">
    <vt:lpwstr>Standard</vt:lpwstr>
  </property>
  <property fmtid="{D5CDD505-2E9C-101B-9397-08002B2CF9AE}" pid="7" name="MSIP_Label_19540963-e559-4020-8a90-fe8a502c2801_Name">
    <vt:lpwstr>19540963-e559-4020-8a90-fe8a502c2801</vt:lpwstr>
  </property>
  <property fmtid="{D5CDD505-2E9C-101B-9397-08002B2CF9AE}" pid="8" name="MSIP_Label_19540963-e559-4020-8a90-fe8a502c2801_SiteId">
    <vt:lpwstr>f25493ae-1c98-41d7-8a33-0be75f5fe603</vt:lpwstr>
  </property>
  <property fmtid="{D5CDD505-2E9C-101B-9397-08002B2CF9AE}" pid="9" name="MSIP_Label_19540963-e559-4020-8a90-fe8a502c2801_ActionId">
    <vt:lpwstr>5a627b69-6798-438b-8748-ce61d6295083</vt:lpwstr>
  </property>
  <property fmtid="{D5CDD505-2E9C-101B-9397-08002B2CF9AE}" pid="10" name="MSIP_Label_19540963-e559-4020-8a90-fe8a502c2801_ContentBits">
    <vt:lpwstr>0</vt:lpwstr>
  </property>
</Properties>
</file>