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2"/>
  </p:notesMasterIdLst>
  <p:sldIdLst>
    <p:sldId id="304" r:id="rId5"/>
    <p:sldId id="305" r:id="rId6"/>
    <p:sldId id="306" r:id="rId7"/>
    <p:sldId id="308" r:id="rId8"/>
    <p:sldId id="309" r:id="rId9"/>
    <p:sldId id="307" r:id="rId10"/>
    <p:sldId id="310" r:id="rId1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2F2"/>
    <a:srgbClr val="66B2B0"/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118" d="100"/>
          <a:sy n="118" d="100"/>
        </p:scale>
        <p:origin x="255" y="282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commentAuthors" Target="commentAuthors.xml"/><Relationship Id="rId18" Type="http://schemas.microsoft.com/office/2018/10/relationships/authors" Target="author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2/19/2026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youtube.com/playlist%3Flist%3DPL6DEHvciXKeXrv1A4AV2wy1RDv-Y5MRip" TargetMode="External"/><Relationship Id="rId2" Type="http://schemas.openxmlformats.org/officeDocument/2006/relationships/hyperlink" Target="https://www.archimatetool.com/download/" TargetMode="Externa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3.png"/><Relationship Id="rId5" Type="http://schemas.openxmlformats.org/officeDocument/2006/relationships/hyperlink" Target="https://www.udemy.com/course/archi-tool-user-guide-tutorial/?referralCode=B7FD975B5B8F58109B76" TargetMode="External"/><Relationship Id="rId4" Type="http://schemas.openxmlformats.org/officeDocument/2006/relationships/hyperlink" Target="https://www.youtube.com/playlist?list=PL6DEHvciXKeXrv1A4AV2wy1RDv-Y5MRip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25334" y="4985405"/>
            <a:ext cx="4868512" cy="452868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r>
              <a:rPr lang="en-US" altLang="zh-CN" dirty="0"/>
              <a:t>Feb 2026, </a:t>
            </a:r>
            <a:r>
              <a:rPr lang="en-US" dirty="0"/>
              <a:t>Xiaoqi Zhao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5ACEA4E-49D1-F4F3-AB8B-CB8B785155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351" y="66389"/>
            <a:ext cx="6280581" cy="241838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50C3A95-C7DF-4D7B-7BDE-45B29B204F9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98156" y="900782"/>
            <a:ext cx="4816131" cy="4990359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99351" y="2853220"/>
            <a:ext cx="9043031" cy="1874657"/>
          </a:xfrm>
          <a:solidFill>
            <a:srgbClr val="F2F2F2">
              <a:alpha val="80000"/>
            </a:srgbClr>
          </a:solidFill>
        </p:spPr>
        <p:txBody>
          <a:bodyPr anchor="ctr">
            <a:normAutofit/>
          </a:bodyPr>
          <a:lstStyle/>
          <a:p>
            <a:r>
              <a:rPr lang="en-US" sz="5400" dirty="0"/>
              <a:t>Archi 5.8.0 </a:t>
            </a:r>
            <a:r>
              <a:rPr lang="en-US" sz="4800" dirty="0"/>
              <a:t>(</a:t>
            </a:r>
            <a:r>
              <a:rPr lang="en-US" altLang="zh-CN" sz="4800" dirty="0"/>
              <a:t>Feb</a:t>
            </a:r>
            <a:r>
              <a:rPr lang="en-US" sz="4800" dirty="0"/>
              <a:t> 16, 2026) Features Deep Dive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2978D64-F2EA-18CC-E0C5-CD1DC3FBD686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631438" y="0"/>
            <a:ext cx="1501073" cy="153989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A42245B-BFB2-0BD5-1DF4-824E10A244F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221157" y="4880775"/>
            <a:ext cx="2313323" cy="191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New Features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690688"/>
            <a:ext cx="10515600" cy="4486275"/>
          </a:xfrm>
        </p:spPr>
        <p:txBody>
          <a:bodyPr>
            <a:normAutofit fontScale="85000" lnSpcReduction="20000"/>
          </a:bodyPr>
          <a:lstStyle/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/>
              <a:t>Can now </a:t>
            </a:r>
            <a:r>
              <a:rPr lang="en-US" b="1" dirty="0">
                <a:highlight>
                  <a:srgbClr val="00FF00"/>
                </a:highlight>
              </a:rPr>
              <a:t>add Legends to ArchiMate Views </a:t>
            </a:r>
            <a:r>
              <a:rPr lang="en-US" dirty="0"/>
              <a:t>with options for </a:t>
            </a:r>
            <a:r>
              <a:rPr lang="en-US" dirty="0" err="1"/>
              <a:t>customising</a:t>
            </a:r>
            <a:r>
              <a:rPr lang="en-US" dirty="0"/>
              <a:t> each instance. A Legend is a re-purposed Note figure and will appear as an empty Note if opened in earlier versions of Archi.</a:t>
            </a:r>
          </a:p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/>
              <a:t>Add an </a:t>
            </a:r>
            <a:r>
              <a:rPr lang="en-US" b="1" dirty="0">
                <a:highlight>
                  <a:srgbClr val="00FF00"/>
                </a:highlight>
              </a:rPr>
              <a:t>option to show Specialization icons </a:t>
            </a:r>
            <a:r>
              <a:rPr lang="en-US" dirty="0"/>
              <a:t>in the Models Tree (Preferences -&gt; General)</a:t>
            </a:r>
          </a:p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dirty="0"/>
              <a:t>Add an </a:t>
            </a:r>
            <a:r>
              <a:rPr lang="en-US" b="1" dirty="0">
                <a:highlight>
                  <a:srgbClr val="00FF00"/>
                </a:highlight>
              </a:rPr>
              <a:t>option to use alphanumeric sort order for labels </a:t>
            </a:r>
            <a:r>
              <a:rPr lang="en-US" dirty="0"/>
              <a:t>containing numbers in the Models Tree (1, 2, 3, 10 instead of 1, 10, 2, 3) (Preferences -&gt; General)</a:t>
            </a:r>
          </a:p>
          <a:p>
            <a:pPr marL="514350" indent="-514350">
              <a:lnSpc>
                <a:spcPct val="110000"/>
              </a:lnSpc>
              <a:buFont typeface="+mj-lt"/>
              <a:buAutoNum type="arabicPeriod"/>
            </a:pPr>
            <a:r>
              <a:rPr lang="en-US" b="1" dirty="0">
                <a:highlight>
                  <a:srgbClr val="00FF00"/>
                </a:highlight>
              </a:rPr>
              <a:t>Junction figure </a:t>
            </a:r>
          </a:p>
          <a:p>
            <a:pPr marL="914400" lvl="1" indent="-457200">
              <a:lnSpc>
                <a:spcPct val="110000"/>
              </a:lnSpc>
              <a:buFont typeface="+mj-lt"/>
              <a:buAutoNum type="arabicPeriod"/>
            </a:pPr>
            <a:r>
              <a:rPr lang="en-US" dirty="0"/>
              <a:t>now has separate line and fill colors</a:t>
            </a:r>
          </a:p>
          <a:p>
            <a:pPr marL="914400" lvl="1" indent="-457200">
              <a:lnSpc>
                <a:spcPct val="110000"/>
              </a:lnSpc>
              <a:buFont typeface="+mj-lt"/>
              <a:buAutoNum type="arabicPeriod"/>
            </a:pPr>
            <a:r>
              <a:rPr lang="en-US" dirty="0"/>
              <a:t>now has user default fill </a:t>
            </a:r>
            <a:r>
              <a:rPr lang="en-US" dirty="0" err="1"/>
              <a:t>colour</a:t>
            </a:r>
            <a:r>
              <a:rPr lang="en-US" dirty="0"/>
              <a:t> in </a:t>
            </a:r>
            <a:r>
              <a:rPr lang="en-US" dirty="0" err="1"/>
              <a:t>Colours</a:t>
            </a:r>
            <a:r>
              <a:rPr lang="en-US" dirty="0"/>
              <a:t> Preferences page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93089D-121C-DF1C-3E81-B226D1A0B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FC91F1F-7515-9FE4-CFD8-BC818FDA1A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2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DE65AE5-769C-2257-F6FF-7C06F513E3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15458" y="4443479"/>
            <a:ext cx="1733484" cy="173348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048F229-805E-7425-D9A2-E6D96EB230AC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30460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Improvements – 1~10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fontScale="55000" lnSpcReduction="20000"/>
          </a:bodyPr>
          <a:lstStyle/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Bundled Java Runtime is version 21.0.9+10 </a:t>
            </a:r>
            <a:r>
              <a:rPr lang="en-US" sz="2500" i="1" dirty="0"/>
              <a:t>(Upgraded</a:t>
            </a:r>
            <a:r>
              <a:rPr lang="zh-CN" altLang="en-US" sz="2500" i="1" dirty="0"/>
              <a:t> </a:t>
            </a:r>
            <a:r>
              <a:rPr lang="en-US" altLang="zh-CN" sz="2500" i="1" dirty="0"/>
              <a:t>to</a:t>
            </a:r>
            <a:r>
              <a:rPr lang="zh-CN" altLang="en-US" sz="2500" i="1" dirty="0"/>
              <a:t> </a:t>
            </a:r>
            <a:r>
              <a:rPr lang="en-US" altLang="zh-CN" sz="2500" i="1" dirty="0"/>
              <a:t>Java Runtime v21 from Archi 5.6)</a:t>
            </a:r>
            <a:endParaRPr lang="en-US" i="1" dirty="0"/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Optimisations to diagram drawing and caching of model information should result in less memory usage and faster drawing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Improvements and fixes to the help documentation and User Guide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>
                <a:highlight>
                  <a:srgbClr val="00FF00"/>
                </a:highlight>
              </a:rPr>
              <a:t>The </a:t>
            </a:r>
            <a:r>
              <a:rPr lang="en-US" dirty="0" err="1">
                <a:highlight>
                  <a:srgbClr val="00FF00"/>
                </a:highlight>
              </a:rPr>
              <a:t>Colour</a:t>
            </a:r>
            <a:r>
              <a:rPr lang="en-US" dirty="0">
                <a:highlight>
                  <a:srgbClr val="00FF00"/>
                </a:highlight>
              </a:rPr>
              <a:t> Preferences page now shows user set </a:t>
            </a:r>
            <a:r>
              <a:rPr lang="en-US" dirty="0" err="1">
                <a:highlight>
                  <a:srgbClr val="00FF00"/>
                </a:highlight>
              </a:rPr>
              <a:t>colours</a:t>
            </a:r>
            <a:r>
              <a:rPr lang="en-US" dirty="0">
                <a:highlight>
                  <a:srgbClr val="00FF00"/>
                </a:highlight>
              </a:rPr>
              <a:t> with an asterisk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>
                <a:highlight>
                  <a:srgbClr val="00FF00"/>
                </a:highlight>
              </a:rPr>
              <a:t>The </a:t>
            </a:r>
            <a:r>
              <a:rPr lang="en-US" dirty="0" err="1">
                <a:highlight>
                  <a:srgbClr val="00FF00"/>
                </a:highlight>
              </a:rPr>
              <a:t>Colour</a:t>
            </a:r>
            <a:r>
              <a:rPr lang="en-US" dirty="0">
                <a:highlight>
                  <a:srgbClr val="00FF00"/>
                </a:highlight>
              </a:rPr>
              <a:t> Preferences page now has “Expand All” and “Collapse All” options when right-clicking on the tree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Internal improvements and optimisations to the </a:t>
            </a:r>
            <a:r>
              <a:rPr lang="en-US" dirty="0" err="1"/>
              <a:t>Colours</a:t>
            </a:r>
            <a:r>
              <a:rPr lang="en-US" dirty="0"/>
              <a:t> Preferences page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The Image Manager dialog gallery will not stretch small images to fit (they are shown as original size)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The Image Manager dialog now responds to Enter and Escape key presses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The Image Manager dialog now loads images lazily with smaller images at the top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/>
            </a:pPr>
            <a:r>
              <a:rPr lang="en-US" dirty="0"/>
              <a:t>The New Model/Canvas From Template dialog now responds to Enter and Escape key presses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93089D-121C-DF1C-3E81-B226D1A0B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FC91F1F-7515-9FE4-CFD8-BC818FDA1A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3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987F71AF-2405-D8A4-3C38-004935AD2685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273214" y="0"/>
            <a:ext cx="1918786" cy="191878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BBB188C0-78D9-5A3F-E7AA-92EC1D439D88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224037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4A0A83-5470-A19F-9625-4C8A315579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7D9DD198-F3E9-979C-B92B-585E6E416B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Improvements – 11~20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C7A9F309-016A-FCA2-A730-392C0A11836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fontScale="62500" lnSpcReduction="20000"/>
          </a:bodyPr>
          <a:lstStyle/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Model Tree search – show all Specializations in sub-menu, not just the ones in use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>
                <a:highlight>
                  <a:srgbClr val="00FF00"/>
                </a:highlight>
              </a:rPr>
              <a:t>Model Tree search – update the Specializations menu and reset the Tree if a Specialization is modified, added or deleted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Model Tree search – sort Specializations by Elements then Relationships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Model Tree search – save settings when quitting app or closing the Model Tree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>
                <a:highlight>
                  <a:srgbClr val="00FF00"/>
                </a:highlight>
              </a:rPr>
              <a:t>Model Tree search – add Refresh menu item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Opening many Views simultaneously is faster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Prompt for user confirmation if opening more than 100 Views at once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MS Edge is now on by default for the internal browser on Windows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Prevent duplicate Feature names (internally used)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11"/>
            </a:pPr>
            <a:r>
              <a:rPr lang="en-US" dirty="0"/>
              <a:t>Only save image files as required when saving a model in a coArchi2 repository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DAE0B79-2DD9-4662-869B-E374A963B3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3D13DE8-0150-4C9A-1510-C60B23F057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633A52-4B36-0380-B307-FC3C0924C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4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B94E0A0-AE73-9019-9CFC-34C99F6E063D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273214" y="0"/>
            <a:ext cx="1918786" cy="191878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5178609-6CB3-E073-DA39-CA3251A80B8B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358762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42A73-4888-8A94-F209-14305A057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F2DBCC1A-3484-B0E7-EDED-3419852E79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Improvements – 21~31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50DC253C-1C5F-937F-F7DB-0764695F01C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fontScale="55000" lnSpcReduction="20000"/>
          </a:bodyPr>
          <a:lstStyle/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>
                <a:highlight>
                  <a:srgbClr val="FFFF00"/>
                </a:highlight>
              </a:rPr>
              <a:t>SVG export of a View now adds height and width attributes to the SVG file</a:t>
            </a:r>
            <a:r>
              <a:rPr lang="en-US" sz="2500" i="1" dirty="0"/>
              <a:t> (already in 5.7)</a:t>
            </a:r>
            <a:endParaRPr lang="en-US" i="1" dirty="0"/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>
                <a:highlight>
                  <a:srgbClr val="C0C0C0"/>
                </a:highlight>
              </a:rPr>
              <a:t>[CSV Import] Support comments starting with # character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>
                <a:highlight>
                  <a:srgbClr val="C0C0C0"/>
                </a:highlight>
              </a:rPr>
              <a:t>Figure icons can be used in other places (such as the Legend)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Preserve connection order when deleting/reconnecting connections (so that coArchi2 does not see this as a change in the model)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Ensure unique internal image names for image files (guards against different images with the same name)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Improvements to figure image drawing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Update Grid and Gallery widgets to newer versions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Some icons improved for hi-dpi screens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Show progress dialog when checking for new version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Limit HTTP redirect retries to 5 when using a Proxy server and authentication fails</a:t>
            </a:r>
          </a:p>
          <a:p>
            <a:pPr marL="514350" indent="-514350">
              <a:lnSpc>
                <a:spcPct val="120000"/>
              </a:lnSpc>
              <a:buFont typeface="+mj-lt"/>
              <a:buAutoNum type="arabicPeriod" startAt="21"/>
            </a:pPr>
            <a:r>
              <a:rPr lang="en-US" dirty="0"/>
              <a:t>Support pinch and zoom gesture in diagrams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2865DB2-08BA-813C-7E2B-D8B4796987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0F47E72-5660-FB2E-2CD2-F0842FA1EE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37AE139-2432-3875-E88B-0DEE6E6679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5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D548E95-6533-548D-2580-C432EB0DBDF2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273214" y="0"/>
            <a:ext cx="1918786" cy="191878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FD814294-7C65-5F52-DC91-FA5360A24F82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583028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B0A9D7EA-1DDF-0D0D-785D-D7E67DFD7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Fixes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F296479-A1A9-2D1A-8B90-6AB67BA9D0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10515600" cy="4351338"/>
          </a:xfrm>
        </p:spPr>
        <p:txBody>
          <a:bodyPr>
            <a:normAutofit lnSpcReduction="10000"/>
          </a:bodyPr>
          <a:lstStyle/>
          <a:p>
            <a:pPr marL="514350" indent="-514350">
              <a:buFont typeface="+mj-lt"/>
              <a:buAutoNum type="arabicPeriod"/>
            </a:pPr>
            <a:r>
              <a:rPr lang="en-US" dirty="0"/>
              <a:t>Fix FormatPainter not updating cursor on </a:t>
            </a:r>
            <a:r>
              <a:rPr lang="en-US" dirty="0">
                <a:highlight>
                  <a:srgbClr val="00FF00"/>
                </a:highlight>
              </a:rPr>
              <a:t>Linux X11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Fix SVG image export not properly filling oval figures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Many internal fixes and optimisations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Fix user set font reverting to default font on </a:t>
            </a:r>
            <a:r>
              <a:rPr lang="en-US" dirty="0">
                <a:highlight>
                  <a:srgbClr val="00FF00"/>
                </a:highlight>
              </a:rPr>
              <a:t>Mac</a:t>
            </a:r>
            <a:r>
              <a:rPr lang="en-US" dirty="0"/>
              <a:t> when font scaling checkbox is selected in Preferences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Don’t show focus selection outline in Figures Preference Page on </a:t>
            </a:r>
            <a:r>
              <a:rPr lang="en-US" dirty="0">
                <a:highlight>
                  <a:srgbClr val="00FF00"/>
                </a:highlight>
              </a:rPr>
              <a:t>Windows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/>
              <a:t>Fix Welcome window file not found if Archi is run from a different location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>
                <a:highlight>
                  <a:srgbClr val="00FF00"/>
                </a:highlight>
              </a:rPr>
              <a:t>Use absolute path if -Ddata.location contains “..”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93089D-121C-DF1C-3E81-B226D1A0B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FC91F1F-7515-9FE4-CFD8-BC818FDA1A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Pitch deck title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710804-5FE5-298D-AFE1-8C66FCCEA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6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3631E1E-6D28-6108-6281-3A8B955FB1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55717" y="770823"/>
            <a:ext cx="2028825" cy="15240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770B7D78-22E4-5C09-F6D5-2355785E31C5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302919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5F374B-0118-DB5C-B760-6C7DF9CD0E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Want more Information?</a:t>
            </a:r>
            <a:br>
              <a:rPr lang="en-US" dirty="0"/>
            </a:br>
            <a:r>
              <a:rPr lang="en-US" sz="2200" b="0" cap="none" dirty="0"/>
              <a:t>Accelerate your Enterprise Architecture journey with these essential links.</a:t>
            </a:r>
            <a:endParaRPr lang="en-US" b="0" cap="none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E0A0FE0B-ECCF-0217-986E-9F2A996F2E0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>
              <a:lnSpc>
                <a:spcPct val="110000"/>
              </a:lnSpc>
            </a:pPr>
            <a:r>
              <a:rPr lang="en-US" b="1" dirty="0"/>
              <a:t>Software Download:</a:t>
            </a:r>
            <a:r>
              <a:rPr lang="en-US" dirty="0"/>
              <a:t> Get </a:t>
            </a:r>
            <a:r>
              <a:rPr lang="en-US" b="1" dirty="0"/>
              <a:t>Archi 5.8</a:t>
            </a:r>
            <a:r>
              <a:rPr lang="en-US" dirty="0"/>
              <a:t> (upon release) at </a:t>
            </a:r>
            <a:r>
              <a:rPr lang="en-US" dirty="0">
                <a:hlinkClick r:id="rId2"/>
              </a:rPr>
              <a:t>archimatetool.com/download</a:t>
            </a:r>
            <a:endParaRPr lang="en-US" dirty="0"/>
          </a:p>
          <a:p>
            <a:pPr>
              <a:lnSpc>
                <a:spcPct val="110000"/>
              </a:lnSpc>
            </a:pPr>
            <a:r>
              <a:rPr lang="en-US" b="1" dirty="0"/>
              <a:t>Documentation:</a:t>
            </a:r>
            <a:r>
              <a:rPr lang="en-US" dirty="0"/>
              <a:t> Comprehensive </a:t>
            </a:r>
            <a:r>
              <a:rPr lang="en-US" b="1" dirty="0"/>
              <a:t>User Guide</a:t>
            </a:r>
            <a:r>
              <a:rPr lang="en-US" dirty="0"/>
              <a:t> included with your installation.</a:t>
            </a:r>
          </a:p>
          <a:p>
            <a:pPr>
              <a:lnSpc>
                <a:spcPct val="110000"/>
              </a:lnSpc>
            </a:pPr>
            <a:r>
              <a:rPr lang="en-US" b="1" dirty="0"/>
              <a:t>Video Training:</a:t>
            </a:r>
            <a:r>
              <a:rPr lang="en-US" dirty="0"/>
              <a:t> Watch the curated </a:t>
            </a:r>
            <a:r>
              <a:rPr lang="en-US" dirty="0">
                <a:hlinkClick r:id="rId3"/>
              </a:rPr>
              <a:t>YouTube Playlist</a:t>
            </a:r>
            <a:r>
              <a:rPr lang="en-US" dirty="0"/>
              <a:t> </a:t>
            </a:r>
            <a:r>
              <a:rPr lang="en-US" sz="2100" dirty="0"/>
              <a:t>(</a:t>
            </a:r>
            <a:r>
              <a:rPr lang="en-US" sz="2100" dirty="0">
                <a:hlinkClick r:id="rId4"/>
              </a:rPr>
              <a:t>https://www.youtube.com/playlist?list=PL6DEHvciXKeXrv1A4AV2wy1RDv-Y5MRip</a:t>
            </a:r>
            <a:r>
              <a:rPr lang="en-US" sz="2100" dirty="0"/>
              <a:t>) </a:t>
            </a:r>
            <a:r>
              <a:rPr lang="en-US" dirty="0"/>
              <a:t>for visual walkthroughs.</a:t>
            </a:r>
          </a:p>
          <a:p>
            <a:pPr>
              <a:lnSpc>
                <a:spcPct val="110000"/>
              </a:lnSpc>
            </a:pPr>
            <a:r>
              <a:rPr lang="en-US" b="1" dirty="0"/>
              <a:t>Certified Learning:</a:t>
            </a:r>
            <a:r>
              <a:rPr lang="en-US" dirty="0"/>
              <a:t> Enroll in the premium </a:t>
            </a:r>
            <a:r>
              <a:rPr lang="en-US" dirty="0">
                <a:hlinkClick r:id="rId5"/>
              </a:rPr>
              <a:t>Udemy Course</a:t>
            </a:r>
            <a:r>
              <a:rPr lang="en-US" dirty="0"/>
              <a:t> </a:t>
            </a:r>
            <a:r>
              <a:rPr lang="en-US" sz="2200" dirty="0"/>
              <a:t>(</a:t>
            </a:r>
            <a:r>
              <a:rPr lang="en-US" sz="2200" dirty="0">
                <a:hlinkClick r:id="rId5"/>
              </a:rPr>
              <a:t>https://www.udemy.com/course/archi-tool-user-guide-tutorial/?referralCode=</a:t>
            </a:r>
            <a:r>
              <a:rPr lang="en-US" sz="2200" b="1" dirty="0">
                <a:hlinkClick r:id="rId5"/>
              </a:rPr>
              <a:t>B7FD975B5B8F58109B76</a:t>
            </a:r>
            <a:r>
              <a:rPr lang="en-US" sz="2200" dirty="0"/>
              <a:t>) </a:t>
            </a:r>
            <a:r>
              <a:rPr lang="en-US" dirty="0"/>
              <a:t>for a structured masterclass.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C561749-2FBA-95E1-CD63-88EC9CDCB1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7/1/20XX</a:t>
            </a:r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955593-A765-4306-7EAE-4897620C4D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F620079-0270-9B44-7B76-C1A1EDD87E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7</a:t>
            </a:fld>
            <a:endParaRPr lang="en-US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CBE88F2C-5B9B-A492-4347-EB37F75CF71E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0" y="0"/>
            <a:ext cx="815376" cy="83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097402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" id="{91065DBE-5BFE-48A8-88E3-00BE4E05E4F1}" vid="{764D0EE5-1C2F-4307-AB39-AA19F2A69737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8" ma:contentTypeDescription="Create a new document." ma:contentTypeScope="" ma:versionID="60f5a4f2d2b0abadcf532d48ebf9cb71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7dd78129e6a1811f84807ad11c651531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Status" minOccurs="0"/>
                <xsd:element ref="ns2:Image" minOccurs="0"/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1:_ip_UnifiedCompliancePolicyProperties" minOccurs="0"/>
                <xsd:element ref="ns1:_ip_UnifiedCompliancePolicyUIAction" minOccurs="0"/>
                <xsd:element ref="ns4:TaxCatchAll" minOccurs="0"/>
                <xsd:element ref="ns2:ImageTagsTaxHTField" minOccurs="0"/>
                <xsd:element ref="ns2:MediaServiceLocation" minOccurs="0"/>
                <xsd:element ref="ns2:MediaLengthInSeconds" minOccurs="0"/>
                <xsd:element ref="ns2:Background" minOccurs="0"/>
                <xsd:element ref="ns2:MediaServiceSearchProperties" minOccurs="0"/>
                <xsd:element ref="ns2:MediaServiceDocTags" minOccurs="0"/>
                <xsd:element ref="ns2:MediaServiceObjectDetectorVersions" minOccurs="0"/>
                <xsd:element ref="ns2:MediaServiceSystem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 ma:readOnly="false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 ma:readOnly="fals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Status" ma:index="2" nillable="true" ma:displayName="Status" ma:default="Not started" ma:format="Dropdown" ma:internalName="Status" ma:readOnly="false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3" nillable="true" ma:displayName="Image" ma:format="Image" ma:internalName="Image" ma:readOnly="fals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hidden="true" ma:internalName="MediaServiceOCR" ma:readOnly="true">
      <xsd:simpleType>
        <xsd:restriction base="dms:Note"/>
      </xsd:simpleType>
    </xsd:element>
    <xsd:element name="MediaServiceAutoTags" ma:index="11" nillable="true" ma:displayName="MediaServiceAutoTags" ma:hidden="true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hidden="true" ma:internalName="MediaServiceKeyPoints" ma:readOnly="fals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hidden="true" ma:internalName="MediaServiceLocation" ma:readOnly="true">
      <xsd:simpleType>
        <xsd:restriction base="dms:Text"/>
      </xsd:simpleType>
    </xsd:element>
    <xsd:element name="MediaLengthInSeconds" ma:index="27" nillable="true" ma:displayName="MediaLengthInSeconds" ma:hidden="true" ma:internalName="MediaLengthInSeconds" ma:readOnly="true">
      <xsd:simpleType>
        <xsd:restriction base="dms:Unknown"/>
      </xsd:simpleType>
    </xsd:element>
    <xsd:element name="Background" ma:index="28" nillable="true" ma:displayName="Background" ma:default="0" ma:format="Dropdown" ma:internalName="Background">
      <xsd:simpleType>
        <xsd:restriction base="dms:Boolean"/>
      </xsd:simpleType>
    </xsd:element>
    <xsd:element name="MediaServiceSearchProperties" ma:index="29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ocTags" ma:index="30" nillable="true" ma:displayName="MediaServiceDocTags" ma:hidden="true" ma:internalName="MediaServiceDocTags" ma:readOnly="true">
      <xsd:simpleType>
        <xsd:restriction base="dms:Note"/>
      </xsd:simpleType>
    </xsd:element>
    <xsd:element name="MediaServiceObjectDetectorVersions" ma:index="3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ystemTags" ma:index="32" nillable="true" ma:displayName="MediaServiceSystemTags" ma:hidden="true" ma:internalName="MediaServiceSystemTag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hidden="true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hidden="true" ma:internalName="SharedWithDetail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readOnly="false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 xsi:nil="true"/>
    <MediaServiceKeyPoints xmlns="71af3243-3dd4-4a8d-8c0d-dd76da1f02a5" xsi:nil="true"/>
    <Background xmlns="71af3243-3dd4-4a8d-8c0d-dd76da1f02a5">false</Background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01299F1D-9457-4AA5-87D1-B9A9C19F301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F64B861-6024-48D7-A751-9C7ADB614CF2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799972D5-0616-492C-93CD-BB1ADFB67788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/>
</file>

<file path=docProps/app.xml><?xml version="1.0" encoding="utf-8"?>
<Properties xmlns="http://schemas.openxmlformats.org/officeDocument/2006/extended-properties" xmlns:vt="http://schemas.openxmlformats.org/officeDocument/2006/docPropsVTypes">
  <Template>{EE42B0DC-4D6C-44D5-B189-51D2E3E7067D}tf16411248_win32</Template>
  <TotalTime>628</TotalTime>
  <Words>745</Words>
  <Application>Microsoft Office PowerPoint</Application>
  <PresentationFormat>Widescreen</PresentationFormat>
  <Paragraphs>74</Paragraphs>
  <Slides>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2" baseType="lpstr">
      <vt:lpstr>Arial</vt:lpstr>
      <vt:lpstr>Avenir Next LT Pro Light</vt:lpstr>
      <vt:lpstr>Calibri</vt:lpstr>
      <vt:lpstr>Posterama</vt:lpstr>
      <vt:lpstr>Office Theme</vt:lpstr>
      <vt:lpstr>Archi 5.8.0 (Feb 16, 2026) Features Deep Dive</vt:lpstr>
      <vt:lpstr>New Features</vt:lpstr>
      <vt:lpstr>Improvements – 1~10</vt:lpstr>
      <vt:lpstr>Improvements – 11~20</vt:lpstr>
      <vt:lpstr>Improvements – 21~31</vt:lpstr>
      <vt:lpstr>Fixes</vt:lpstr>
      <vt:lpstr>Want more Information? Accelerate your Enterprise Architecture journey with these essential links.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Archi 5.2</dc:title>
  <dc:creator>Zhao Xiaoqi</dc:creator>
  <cp:lastModifiedBy>Xiaoqi Zhao</cp:lastModifiedBy>
  <cp:revision>12</cp:revision>
  <dcterms:created xsi:type="dcterms:W3CDTF">2023-11-01T19:09:20Z</dcterms:created>
  <dcterms:modified xsi:type="dcterms:W3CDTF">2026-02-19T14:50:53Z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  <property fmtid="{D5CDD505-2E9C-101B-9397-08002B2CF9AE}" pid="3" name="MediaServiceImageTags">
    <vt:lpwstr/>
  </property>
  <property fmtid="{D5CDD505-2E9C-101B-9397-08002B2CF9AE}" pid="4" name="MSIP_Label_19540963-e559-4020-8a90-fe8a502c2801_Enabled">
    <vt:lpwstr>true</vt:lpwstr>
  </property>
  <property fmtid="{D5CDD505-2E9C-101B-9397-08002B2CF9AE}" pid="5" name="MSIP_Label_19540963-e559-4020-8a90-fe8a502c2801_SetDate">
    <vt:lpwstr>2023-11-01T19:12:26Z</vt:lpwstr>
  </property>
  <property fmtid="{D5CDD505-2E9C-101B-9397-08002B2CF9AE}" pid="6" name="MSIP_Label_19540963-e559-4020-8a90-fe8a502c2801_Method">
    <vt:lpwstr>Standard</vt:lpwstr>
  </property>
  <property fmtid="{D5CDD505-2E9C-101B-9397-08002B2CF9AE}" pid="7" name="MSIP_Label_19540963-e559-4020-8a90-fe8a502c2801_Name">
    <vt:lpwstr>19540963-e559-4020-8a90-fe8a502c2801</vt:lpwstr>
  </property>
  <property fmtid="{D5CDD505-2E9C-101B-9397-08002B2CF9AE}" pid="8" name="MSIP_Label_19540963-e559-4020-8a90-fe8a502c2801_SiteId">
    <vt:lpwstr>f25493ae-1c98-41d7-8a33-0be75f5fe603</vt:lpwstr>
  </property>
  <property fmtid="{D5CDD505-2E9C-101B-9397-08002B2CF9AE}" pid="9" name="MSIP_Label_19540963-e559-4020-8a90-fe8a502c2801_ActionId">
    <vt:lpwstr>5a627b69-6798-438b-8748-ce61d6295083</vt:lpwstr>
  </property>
  <property fmtid="{D5CDD505-2E9C-101B-9397-08002B2CF9AE}" pid="10" name="MSIP_Label_19540963-e559-4020-8a90-fe8a502c2801_ContentBits">
    <vt:lpwstr>0</vt:lpwstr>
  </property>
</Properties>
</file>